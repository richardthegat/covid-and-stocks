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Urbanist Medium"/>
      <p:regular r:id="rId32"/>
      <p:bold r:id="rId33"/>
      <p:italic r:id="rId34"/>
      <p:boldItalic r:id="rId35"/>
    </p:embeddedFont>
    <p:embeddedFont>
      <p:font typeface="Urbanist SemiBold"/>
      <p:regular r:id="rId36"/>
      <p:bold r:id="rId37"/>
      <p:italic r:id="rId38"/>
      <p:boldItalic r:id="rId39"/>
    </p:embeddedFont>
    <p:embeddedFont>
      <p:font typeface="Urbanis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regular.fntdata"/><Relationship Id="rId20" Type="http://schemas.openxmlformats.org/officeDocument/2006/relationships/slide" Target="slides/slide14.xml"/><Relationship Id="rId42" Type="http://schemas.openxmlformats.org/officeDocument/2006/relationships/font" Target="fonts/Urbanist-italic.fntdata"/><Relationship Id="rId41" Type="http://schemas.openxmlformats.org/officeDocument/2006/relationships/font" Target="fonts/Urbanist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Urbanist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UrbanistMedium-bold.fntdata"/><Relationship Id="rId10" Type="http://schemas.openxmlformats.org/officeDocument/2006/relationships/slide" Target="slides/slide4.xml"/><Relationship Id="rId32" Type="http://schemas.openxmlformats.org/officeDocument/2006/relationships/font" Target="fonts/UrbanistMedium-regular.fntdata"/><Relationship Id="rId13" Type="http://schemas.openxmlformats.org/officeDocument/2006/relationships/slide" Target="slides/slide7.xml"/><Relationship Id="rId35" Type="http://schemas.openxmlformats.org/officeDocument/2006/relationships/font" Target="fonts/UrbanistMedium-boldItalic.fntdata"/><Relationship Id="rId12" Type="http://schemas.openxmlformats.org/officeDocument/2006/relationships/slide" Target="slides/slide6.xml"/><Relationship Id="rId34" Type="http://schemas.openxmlformats.org/officeDocument/2006/relationships/font" Target="fonts/UrbanistMedium-italic.fntdata"/><Relationship Id="rId15" Type="http://schemas.openxmlformats.org/officeDocument/2006/relationships/slide" Target="slides/slide9.xml"/><Relationship Id="rId37" Type="http://schemas.openxmlformats.org/officeDocument/2006/relationships/font" Target="fonts/UrbanistSemiBold-bold.fntdata"/><Relationship Id="rId14" Type="http://schemas.openxmlformats.org/officeDocument/2006/relationships/slide" Target="slides/slide8.xml"/><Relationship Id="rId36" Type="http://schemas.openxmlformats.org/officeDocument/2006/relationships/font" Target="fonts/UrbanistSemiBold-regular.fntdata"/><Relationship Id="rId17" Type="http://schemas.openxmlformats.org/officeDocument/2006/relationships/slide" Target="slides/slide11.xml"/><Relationship Id="rId39" Type="http://schemas.openxmlformats.org/officeDocument/2006/relationships/font" Target="fonts/UrbanistSemiBold-boldItalic.fntdata"/><Relationship Id="rId16" Type="http://schemas.openxmlformats.org/officeDocument/2006/relationships/slide" Target="slides/slide10.xml"/><Relationship Id="rId38" Type="http://schemas.openxmlformats.org/officeDocument/2006/relationships/font" Target="fonts/UrbanistSemiBol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791fd193a0_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791fd193a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7bcf1ee0d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7bcf1ee0d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791fd193a0_2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791fd193a0_2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791fd193a0_2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791fd193a0_2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791fd193a0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791fd193a0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7bcf1ee0d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7bcf1ee0d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7bcf1ee0d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7bcf1ee0d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791fd193a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791fd193a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791fd193a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791fd193a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791fd193a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791fd193a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791fd193a0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791fd193a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7bcf1ee0d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7bcf1ee0d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791fd193a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791fd193a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791fd193a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791fd193a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791fd193a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791fd193a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791fd193a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791fd193a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571b3e9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8571b3e9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791fd193a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791fd193a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791fd193a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791fd193a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791fd193a0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791fd193a0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91fd193a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791fd193a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7bcf1ee0d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7bcf1ee0d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791fd193a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791fd193a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7bcf1ee0d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7bcf1ee0d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7bcf1ee0d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7bcf1ee0d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3" name="Google Shape;483;p5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4"/>
          <p:cNvSpPr txBox="1"/>
          <p:nvPr/>
        </p:nvSpPr>
        <p:spPr>
          <a:xfrm>
            <a:off x="69275" y="658025"/>
            <a:ext cx="93369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  </a:t>
            </a:r>
            <a:endParaRPr b="1" sz="4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   COVID-19 and Pop Culture Stocks</a:t>
            </a:r>
            <a:endParaRPr b="1" sz="4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      An Analysis of Producers vs. Distributors During Economic Downturns</a:t>
            </a:r>
            <a:endParaRPr sz="2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5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495" name="Google Shape;495;p55"/>
          <p:cNvSpPr txBox="1"/>
          <p:nvPr/>
        </p:nvSpPr>
        <p:spPr>
          <a:xfrm>
            <a:off x="471900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6" name="Google Shape;496;p55"/>
          <p:cNvSpPr txBox="1"/>
          <p:nvPr/>
        </p:nvSpPr>
        <p:spPr>
          <a:xfrm>
            <a:off x="900550" y="1853050"/>
            <a:ext cx="7102800" cy="1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exactly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did COV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ID-19 affect Pop culture companies, and what can we learn for a potential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period of economic downturn?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6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</a:t>
            </a:r>
            <a:endParaRPr/>
          </a:p>
        </p:txBody>
      </p:sp>
      <p:sp>
        <p:nvSpPr>
          <p:cNvPr id="502" name="Google Shape;502;p56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Use yLibrary to take a look at current and past stock returns of 8 pop culture companies (Netflix, Warner Bros, Kartoon Studios, Sony(Crunchyroll), Disney, Funko,  GameStop, Hasbro)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Web scrape websites to find yearly revenue and yearly rate of change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Take a look at numbers pre, during, and post COVID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Predict future returns using Time Series Regression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7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508" name="Google Shape;508;p57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Tech stack will be pretty simple. I will make use of: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AutoNum type="arabicPeriod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Python (Web scraping APIs, Visualization, and other Libraries)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AutoNum type="arabicPeriod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Spreadsheets(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Going to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have a lot of structured data on my hands)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AutoNum type="arabicPeriod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Slides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Making a presentation about my results)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8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514" name="Google Shape;514;p58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 analyze how COVID-19 impacted pop culture companies across different business models (producers vs. distributors).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 measure stock price and revenue changes before, during, and after COVID.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To use time series regression to predict how these companies may perform in future economic downturns.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Most importantly, to draw lessons for Cooledtured about which strategies or models are most resilient in times of crisis.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9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Terms</a:t>
            </a:r>
            <a:endParaRPr/>
          </a:p>
        </p:txBody>
      </p:sp>
      <p:sp>
        <p:nvSpPr>
          <p:cNvPr id="520" name="Google Shape;520;p59"/>
          <p:cNvSpPr txBox="1"/>
          <p:nvPr/>
        </p:nvSpPr>
        <p:spPr>
          <a:xfrm>
            <a:off x="424950" y="894500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Before we get started, there are some terms I have to define: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NASDAQ: Tech-heavy stock 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exchange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for publicly traded 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companies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Stock Price: Total value of a company’s shares.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Percent Change: Relative increase/ decrease in a 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company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’s revenue over the last year. 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Revenue:  Total company income 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Y-Finance:   Python API for stock market data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Producers:  Company’s who create and finance Content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Distributors: 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Company</a:t>
            </a: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’s who sell, retail, and distribute products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60"/>
          <p:cNvSpPr txBox="1"/>
          <p:nvPr/>
        </p:nvSpPr>
        <p:spPr>
          <a:xfrm>
            <a:off x="424950" y="984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2286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PRODUCERS</a:t>
            </a:r>
            <a:endParaRPr sz="4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1"/>
          <p:cNvSpPr txBox="1"/>
          <p:nvPr>
            <p:ph type="title"/>
          </p:nvPr>
        </p:nvSpPr>
        <p:spPr>
          <a:xfrm>
            <a:off x="228600" y="234750"/>
            <a:ext cx="60744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Kartoon Studios(Stock Price)</a:t>
            </a:r>
            <a:endParaRPr/>
          </a:p>
        </p:txBody>
      </p:sp>
      <p:sp>
        <p:nvSpPr>
          <p:cNvPr id="532" name="Google Shape;532;p61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33" name="Google Shape;53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7197"/>
            <a:ext cx="9144001" cy="300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67197"/>
            <a:ext cx="9144001" cy="3009107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61"/>
          <p:cNvSpPr txBox="1"/>
          <p:nvPr/>
        </p:nvSpPr>
        <p:spPr>
          <a:xfrm>
            <a:off x="446225" y="4264925"/>
            <a:ext cx="497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Sharp decline during COVID → weak recovery after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2"/>
          <p:cNvSpPr txBox="1"/>
          <p:nvPr>
            <p:ph type="title"/>
          </p:nvPr>
        </p:nvSpPr>
        <p:spPr>
          <a:xfrm>
            <a:off x="228600" y="234750"/>
            <a:ext cx="59829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Kartoon Studios (Revenue)</a:t>
            </a:r>
            <a:endParaRPr/>
          </a:p>
        </p:txBody>
      </p:sp>
      <p:sp>
        <p:nvSpPr>
          <p:cNvPr id="541" name="Google Shape;541;p62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42" name="Google Shape;54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475" y="724900"/>
            <a:ext cx="6184349" cy="43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3"/>
          <p:cNvSpPr txBox="1"/>
          <p:nvPr>
            <p:ph type="title"/>
          </p:nvPr>
        </p:nvSpPr>
        <p:spPr>
          <a:xfrm>
            <a:off x="228600" y="234750"/>
            <a:ext cx="68931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Kartoon Studios (Predicted Stock)</a:t>
            </a:r>
            <a:endParaRPr/>
          </a:p>
        </p:txBody>
      </p:sp>
      <p:sp>
        <p:nvSpPr>
          <p:cNvPr id="548" name="Google Shape;548;p63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49" name="Google Shape;5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125" y="849887"/>
            <a:ext cx="6843293" cy="3443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63"/>
          <p:cNvSpPr txBox="1"/>
          <p:nvPr/>
        </p:nvSpPr>
        <p:spPr>
          <a:xfrm>
            <a:off x="382900" y="4371425"/>
            <a:ext cx="6168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Modest future recovery, however it is lagging behind industry peers, and does not recover </a:t>
            </a:r>
            <a:r>
              <a:rPr lang="en" sz="1600">
                <a:solidFill>
                  <a:schemeClr val="lt1"/>
                </a:solidFill>
              </a:rPr>
              <a:t>pre-pandemic</a:t>
            </a:r>
            <a:r>
              <a:rPr lang="en" sz="1600">
                <a:solidFill>
                  <a:schemeClr val="lt1"/>
                </a:solidFill>
              </a:rPr>
              <a:t> numbers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/>
          <p:cNvSpPr txBox="1"/>
          <p:nvPr>
            <p:ph type="title"/>
          </p:nvPr>
        </p:nvSpPr>
        <p:spPr>
          <a:xfrm>
            <a:off x="228600" y="234750"/>
            <a:ext cx="4546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556" name="Google Shape;556;p64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Vulnerable to production shutdowns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Struggled to adapt quickly during crisis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Over performance during and post pandemic, not good.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5"/>
          <p:cNvSpPr txBox="1"/>
          <p:nvPr/>
        </p:nvSpPr>
        <p:spPr>
          <a:xfrm>
            <a:off x="424950" y="903000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274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BOTH</a:t>
            </a:r>
            <a:endParaRPr sz="4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6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Netflix(Stock Price)</a:t>
            </a:r>
            <a:endParaRPr/>
          </a:p>
        </p:txBody>
      </p:sp>
      <p:sp>
        <p:nvSpPr>
          <p:cNvPr id="568" name="Google Shape;568;p66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69" name="Google Shape;56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63" y="1030100"/>
            <a:ext cx="8697774" cy="300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67197"/>
            <a:ext cx="9144001" cy="3009107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66"/>
          <p:cNvSpPr txBox="1"/>
          <p:nvPr/>
        </p:nvSpPr>
        <p:spPr>
          <a:xfrm>
            <a:off x="383950" y="4147150"/>
            <a:ext cx="7070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Strong upward surge during COVID demand spike before eventual fall and growth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7"/>
          <p:cNvSpPr txBox="1"/>
          <p:nvPr>
            <p:ph type="title"/>
          </p:nvPr>
        </p:nvSpPr>
        <p:spPr>
          <a:xfrm>
            <a:off x="228600" y="234750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Netflix(Revenue)</a:t>
            </a:r>
            <a:endParaRPr/>
          </a:p>
        </p:txBody>
      </p:sp>
      <p:sp>
        <p:nvSpPr>
          <p:cNvPr id="577" name="Google Shape;577;p67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Sustained subscription growth during lockdowns</a:t>
            </a:r>
            <a:endParaRPr/>
          </a:p>
        </p:txBody>
      </p:sp>
      <p:pic>
        <p:nvPicPr>
          <p:cNvPr id="578" name="Google Shape;5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5826" y="872775"/>
            <a:ext cx="5667624" cy="4039549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7"/>
          <p:cNvSpPr txBox="1"/>
          <p:nvPr/>
        </p:nvSpPr>
        <p:spPr>
          <a:xfrm>
            <a:off x="4129150" y="234750"/>
            <a:ext cx="48615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Sustained subscription growth during lockdowns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8"/>
          <p:cNvSpPr txBox="1"/>
          <p:nvPr>
            <p:ph type="title"/>
          </p:nvPr>
        </p:nvSpPr>
        <p:spPr>
          <a:xfrm>
            <a:off x="228600" y="234750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Netflix(Predicted Stock)</a:t>
            </a:r>
            <a:endParaRPr/>
          </a:p>
        </p:txBody>
      </p:sp>
      <p:sp>
        <p:nvSpPr>
          <p:cNvPr id="585" name="Google Shape;585;p68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86" name="Google Shape;5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450" y="1375699"/>
            <a:ext cx="6892975" cy="344372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68"/>
          <p:cNvSpPr txBox="1"/>
          <p:nvPr/>
        </p:nvSpPr>
        <p:spPr>
          <a:xfrm>
            <a:off x="3714300" y="866125"/>
            <a:ext cx="4308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Long-term stabilization after COVID boom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9"/>
          <p:cNvSpPr txBox="1"/>
          <p:nvPr>
            <p:ph type="title"/>
          </p:nvPr>
        </p:nvSpPr>
        <p:spPr>
          <a:xfrm>
            <a:off x="228600" y="234750"/>
            <a:ext cx="4546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593" name="Google Shape;593;p69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Digital-first model thrived during pandemic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Demand for streaming offset market downturns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Flexible supply chain + subscription model = resilience and growth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Stayed strong and continued to grow as time went on.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70"/>
          <p:cNvSpPr txBox="1"/>
          <p:nvPr/>
        </p:nvSpPr>
        <p:spPr>
          <a:xfrm>
            <a:off x="424950" y="8807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22860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Distributors</a:t>
            </a:r>
            <a:endParaRPr sz="4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1"/>
          <p:cNvSpPr txBox="1"/>
          <p:nvPr>
            <p:ph type="title"/>
          </p:nvPr>
        </p:nvSpPr>
        <p:spPr>
          <a:xfrm>
            <a:off x="228600" y="234750"/>
            <a:ext cx="68931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Funko (Stock Prices)</a:t>
            </a:r>
            <a:endParaRPr/>
          </a:p>
        </p:txBody>
      </p:sp>
      <p:sp>
        <p:nvSpPr>
          <p:cNvPr id="605" name="Google Shape;605;p71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06" name="Google Shape;60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7197"/>
            <a:ext cx="9144001" cy="300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67197"/>
            <a:ext cx="9144001" cy="3009107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71"/>
          <p:cNvSpPr txBox="1"/>
          <p:nvPr/>
        </p:nvSpPr>
        <p:spPr>
          <a:xfrm>
            <a:off x="796625" y="4146525"/>
            <a:ext cx="76152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Strong Growth During COVID and then a sharp fall after.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2"/>
          <p:cNvSpPr txBox="1"/>
          <p:nvPr>
            <p:ph type="title"/>
          </p:nvPr>
        </p:nvSpPr>
        <p:spPr>
          <a:xfrm>
            <a:off x="228600" y="234750"/>
            <a:ext cx="68931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Funko (Revenue)</a:t>
            </a:r>
            <a:endParaRPr/>
          </a:p>
        </p:txBody>
      </p:sp>
      <p:sp>
        <p:nvSpPr>
          <p:cNvPr id="614" name="Google Shape;614;p72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15" name="Google Shape;61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250" y="772050"/>
            <a:ext cx="7191999" cy="437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3"/>
          <p:cNvSpPr txBox="1"/>
          <p:nvPr>
            <p:ph type="title"/>
          </p:nvPr>
        </p:nvSpPr>
        <p:spPr>
          <a:xfrm>
            <a:off x="228600" y="234750"/>
            <a:ext cx="68931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Funko (Predicted Stock)</a:t>
            </a:r>
            <a:endParaRPr/>
          </a:p>
        </p:txBody>
      </p:sp>
      <p:sp>
        <p:nvSpPr>
          <p:cNvPr id="621" name="Google Shape;621;p73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22" name="Google Shape;62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100" y="1102780"/>
            <a:ext cx="7121699" cy="35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73"/>
          <p:cNvSpPr txBox="1"/>
          <p:nvPr/>
        </p:nvSpPr>
        <p:spPr>
          <a:xfrm>
            <a:off x="5294425" y="457200"/>
            <a:ext cx="34215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Continued downturn expected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4"/>
          <p:cNvSpPr txBox="1"/>
          <p:nvPr>
            <p:ph type="title"/>
          </p:nvPr>
        </p:nvSpPr>
        <p:spPr>
          <a:xfrm>
            <a:off x="228600" y="234750"/>
            <a:ext cx="45462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629" name="Google Shape;629;p74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Collectibles benefitted from pop culture resurgence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Revenue growth outpaced producers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Distributors better positioned in downturns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However, they failed to innovate and so their 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stock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price and overall revenue fell. A lesson for companies Cooledtured to learn from.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5"/>
          <p:cNvSpPr txBox="1"/>
          <p:nvPr>
            <p:ph type="title"/>
          </p:nvPr>
        </p:nvSpPr>
        <p:spPr>
          <a:xfrm>
            <a:off x="228600" y="234750"/>
            <a:ext cx="61494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all mean?</a:t>
            </a:r>
            <a:endParaRPr/>
          </a:p>
        </p:txBody>
      </p:sp>
      <p:sp>
        <p:nvSpPr>
          <p:cNvPr id="635" name="Google Shape;635;p75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Producers Suffer the most during hard recessions, and Distributors reap the most 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benefits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 means that companies like Funko (and Cooledtured) are likely to see an increase in stock price and revenue during periods of economic downturn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So, there is good in the bad for Cooledtured. 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Assuming things do take a nosedive, of course.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Char char="●"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That said, as seen with Netflix, those who have 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flexible</a:t>
            </a: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supply chains, and digitalized their products reaped the most benefits. 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76"/>
          <p:cNvSpPr txBox="1"/>
          <p:nvPr/>
        </p:nvSpPr>
        <p:spPr>
          <a:xfrm>
            <a:off x="424950" y="8807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          Lessons for Cooledtured</a:t>
            </a:r>
            <a:endParaRPr sz="41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7"/>
          <p:cNvSpPr txBox="1"/>
          <p:nvPr>
            <p:ph type="title"/>
          </p:nvPr>
        </p:nvSpPr>
        <p:spPr>
          <a:xfrm>
            <a:off x="228600" y="234750"/>
            <a:ext cx="4813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mean?</a:t>
            </a:r>
            <a:endParaRPr/>
          </a:p>
        </p:txBody>
      </p:sp>
      <p:sp>
        <p:nvSpPr>
          <p:cNvPr id="647" name="Google Shape;647;p77"/>
          <p:cNvSpPr txBox="1"/>
          <p:nvPr/>
        </p:nvSpPr>
        <p:spPr>
          <a:xfrm>
            <a:off x="446225" y="1177625"/>
            <a:ext cx="8200200" cy="30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Opportunities in downturns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As a distributor/lifestyle company, Cooledtured could see increased demand during recessions, similar to Funko.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Pop culture resilience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Collectibles and fandom-driven products remain popular even in tough economies.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Digital + community advantage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Strong online presence and engagement could buffer against physical retail slowdowns.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Char char="●"/>
            </a:pPr>
            <a:r>
              <a:rPr b="1"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Strategic lesson</a:t>
            </a:r>
            <a:r>
              <a:rPr lang="en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If economic conditions worsen, Cooledtured can lean into its community-driven model to grow while producers struggle.</a:t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