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9" r:id="rId4"/>
    <p:sldMasterId id="2147483710" r:id="rId5"/>
    <p:sldMasterId id="214748371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Urbanist Medium"/>
      <p:regular r:id="rId25"/>
      <p:bold r:id="rId26"/>
      <p:italic r:id="rId27"/>
      <p:boldItalic r:id="rId28"/>
    </p:embeddedFont>
    <p:embeddedFont>
      <p:font typeface="Urbanist SemiBold"/>
      <p:regular r:id="rId29"/>
      <p:bold r:id="rId30"/>
      <p:italic r:id="rId31"/>
      <p:boldItalic r:id="rId32"/>
    </p:embeddedFont>
    <p:embeddedFont>
      <p:font typeface="Urbanist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UrbanistMedium-bold.fntdata"/><Relationship Id="rId25" Type="http://schemas.openxmlformats.org/officeDocument/2006/relationships/font" Target="fonts/UrbanistMedium-regular.fntdata"/><Relationship Id="rId28" Type="http://schemas.openxmlformats.org/officeDocument/2006/relationships/font" Target="fonts/UrbanistMedium-boldItalic.fntdata"/><Relationship Id="rId27" Type="http://schemas.openxmlformats.org/officeDocument/2006/relationships/font" Target="fonts/UrbanistMedium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UrbanistSemiBold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UrbanistSemiBold-italic.fntdata"/><Relationship Id="rId30" Type="http://schemas.openxmlformats.org/officeDocument/2006/relationships/font" Target="fonts/UrbanistSemiBold-bold.fntdata"/><Relationship Id="rId11" Type="http://schemas.openxmlformats.org/officeDocument/2006/relationships/slide" Target="slides/slide4.xml"/><Relationship Id="rId33" Type="http://schemas.openxmlformats.org/officeDocument/2006/relationships/font" Target="fonts/Urbanist-regular.fntdata"/><Relationship Id="rId10" Type="http://schemas.openxmlformats.org/officeDocument/2006/relationships/slide" Target="slides/slide3.xml"/><Relationship Id="rId32" Type="http://schemas.openxmlformats.org/officeDocument/2006/relationships/font" Target="fonts/UrbanistSemiBold-boldItalic.fntdata"/><Relationship Id="rId13" Type="http://schemas.openxmlformats.org/officeDocument/2006/relationships/slide" Target="slides/slide6.xml"/><Relationship Id="rId35" Type="http://schemas.openxmlformats.org/officeDocument/2006/relationships/font" Target="fonts/Urbanist-italic.fntdata"/><Relationship Id="rId12" Type="http://schemas.openxmlformats.org/officeDocument/2006/relationships/slide" Target="slides/slide5.xml"/><Relationship Id="rId34" Type="http://schemas.openxmlformats.org/officeDocument/2006/relationships/font" Target="fonts/Urbanist-bold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schemas.openxmlformats.org/officeDocument/2006/relationships/font" Target="fonts/Urbanist-bold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87f808a32c_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87f808a32c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87f808a32c_6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87f808a32c_6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87f808a32c_6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87f808a32c_6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87f808a32c_6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87f808a32c_6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87f808a32c_6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87f808a32c_6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87f808a32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g387f808a32c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87f808a32c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g387f808a32c_2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87f808a32c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g387f808a32c_2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87f808a32c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387f808a32c_2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87f808a32c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87f808a32c_2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87f808a32c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g387f808a32c_2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87f808a32c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87f808a32c_2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87f808a32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g387f808a32c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87f808a32c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g387f808a32c_2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87f808a32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g387f808a32c_0_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87f808a32c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g387f808a32c_2_1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6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6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2" name="Google Shape;132;p26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2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2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2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6" name="Google Shape;136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" name="Google Shape;137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26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39" name="Google Shape;139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26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1" name="Google Shape;141;p26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2" name="Google Shape;142;p26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26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7" name="Google Shape;147;p27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8" name="Google Shape;148;p27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9" name="Google Shape;149;p27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0" name="Google Shape;150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1" name="Google Shape;151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52" name="Google Shape;152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5" name="Google Shape;155;p28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6" name="Google Shape;156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7" name="Google Shape;157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8" name="Google Shape;158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9" name="Google Shape;159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" name="Google Shape;160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61" name="Google Shape;161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8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28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4" name="Google Shape;164;p28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5" name="Google Shape;165;p28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166" name="Google Shape;166;p28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167" name="Google Shape;167;p28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29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71" name="Google Shape;171;p29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173" name="Google Shape;173;p29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4" name="Google Shape;174;p29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5" name="Google Shape;175;p29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7" name="Google Shape;177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78" name="Google Shape;178;p29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9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29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4" name="Google Shape;184;p30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30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30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88" name="Google Shape;188;p30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9" name="Google Shape;189;p30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0" name="Google Shape;190;p30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1" name="Google Shape;191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2" name="Google Shape;192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3" name="Google Shape;193;p30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4" name="Google Shape;194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1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8" name="Google Shape;198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9" name="Google Shape;199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0" name="Google Shape;200;p31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01" name="Google Shape;201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31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3" name="Google Shape;203;p31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4" name="Google Shape;204;p31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5" name="Google Shape;205;p31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7" name="Google Shape;207;p31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8" name="Google Shape;208;p31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9" name="Google Shape;209;p31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31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31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2" name="Google Shape;212;p31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3" name="Google Shape;213;p31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5" name="Google Shape;215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218" name="Google Shape;218;p32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19" name="Google Shape;219;p3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0" name="Google Shape;220;p3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3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32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3" name="Google Shape;223;p32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24" name="Google Shape;224;p32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225" name="Google Shape;225;p32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26" name="Google Shape;226;p32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27" name="Google Shape;227;p32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228" name="Google Shape;228;p32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29" name="Google Shape;229;p32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30" name="Google Shape;230;p32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231" name="Google Shape;231;p32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32" name="Google Shape;232;p32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33" name="Google Shape;233;p32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234" name="Google Shape;234;p32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35" name="Google Shape;235;p32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36" name="Google Shape;236;p32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237" name="Google Shape;237;p32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38" name="Google Shape;238;p32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239" name="Google Shape;239;p3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3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1" name="Google Shape;241;p3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3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33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45" name="Google Shape;245;p33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6" name="Google Shape;246;p33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7" name="Google Shape;247;p33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33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9" name="Google Shape;249;p3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3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1" name="Google Shape;251;p3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4" name="Google Shape;254;p3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3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256" name="Google Shape;256;p34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257" name="Google Shape;257;p34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258" name="Google Shape;258;p34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259" name="Google Shape;259;p3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" name="Google Shape;260;p3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61" name="Google Shape;261;p34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262" name="Google Shape;262;p34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3" name="Google Shape;263;p34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34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65" name="Google Shape;265;p34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266" name="Google Shape;266;p34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7" name="Google Shape;267;p34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8" name="Google Shape;268;p34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69" name="Google Shape;269;p34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270" name="Google Shape;270;p34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34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2" name="Google Shape;272;p34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3" name="Google Shape;273;p34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274" name="Google Shape;274;p34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34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34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77" name="Google Shape;277;p3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3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3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81" name="Google Shape;281;p35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2" name="Google Shape;282;p35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3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4" name="Google Shape;284;p3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5" name="Google Shape;285;p3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35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87" name="Google Shape;287;p3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35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3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91" name="Google Shape;291;p3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6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94" name="Google Shape;294;p36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95" name="Google Shape;295;p36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36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36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8" name="Google Shape;298;p36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9" name="Google Shape;299;p36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300" name="Google Shape;300;p3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" name="Google Shape;301;p3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3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7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05" name="Google Shape;305;p37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6" name="Google Shape;306;p37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7" name="Google Shape;307;p37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08" name="Google Shape;308;p37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9" name="Google Shape;309;p37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0" name="Google Shape;310;p37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1" name="Google Shape;311;p37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2" name="Google Shape;312;p37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3" name="Google Shape;313;p37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4" name="Google Shape;314;p37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5" name="Google Shape;315;p37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16" name="Google Shape;316;p3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7" name="Google Shape;317;p37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318" name="Google Shape;318;p37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" name="Google Shape;319;p37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0" name="Google Shape;320;p3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1" name="Google Shape;321;p3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8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4" name="Google Shape;324;p38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5" name="Google Shape;325;p38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6" name="Google Shape;326;p38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7" name="Google Shape;327;p3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8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29" name="Google Shape;329;p38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38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38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2" name="Google Shape;332;p38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3" name="Google Shape;333;p38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4" name="Google Shape;334;p38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5" name="Google Shape;335;p38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6" name="Google Shape;336;p38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7" name="Google Shape;337;p38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8" name="Google Shape;338;p38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8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0" name="Google Shape;340;p3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41" name="Google Shape;341;p3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39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4" name="Google Shape;344;p3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5" name="Google Shape;345;p3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6" name="Google Shape;346;p3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7" name="Google Shape;347;p3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8" name="Google Shape;348;p39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9" name="Google Shape;349;p39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0" name="Google Shape;350;p39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51" name="Google Shape;351;p39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2" name="Google Shape;352;p39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3" name="Google Shape;353;p39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54" name="Google Shape;354;p39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5" name="Google Shape;355;p39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6" name="Google Shape;356;p39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57" name="Google Shape;357;p39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8" name="Google Shape;358;p39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9" name="Google Shape;359;p39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60" name="Google Shape;360;p39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1" name="Google Shape;361;p39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2" name="Google Shape;362;p3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3" name="Google Shape;363;p3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0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6" name="Google Shape;366;p40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7" name="Google Shape;367;p40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8" name="Google Shape;368;p40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9" name="Google Shape;369;p40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70" name="Google Shape;370;p4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" name="Google Shape;371;p40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372" name="Google Shape;372;p40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40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4" name="Google Shape;374;p40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5" name="Google Shape;375;p40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6" name="Google Shape;376;p4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77" name="Google Shape;377;p4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0" name="Google Shape;380;p4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1" name="Google Shape;381;p4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82" name="Google Shape;382;p4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3" name="Google Shape;383;p41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84" name="Google Shape;384;p41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85" name="Google Shape;385;p41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86" name="Google Shape;386;p41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87" name="Google Shape;387;p41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41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89" name="Google Shape;389;p41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0" name="Google Shape;390;p41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91" name="Google Shape;391;p41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92" name="Google Shape;392;p41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41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" name="Google Shape;394;p41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95" name="Google Shape;395;p41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96" name="Google Shape;396;p41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97" name="Google Shape;397;p41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98" name="Google Shape;398;p41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99" name="Google Shape;399;p41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00" name="Google Shape;400;p41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01" name="Google Shape;401;p41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02" name="Google Shape;402;p41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03" name="Google Shape;403;p41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04" name="Google Shape;404;p41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05" name="Google Shape;405;p41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06" name="Google Shape;406;p4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7" name="Google Shape;407;p4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2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10" name="Google Shape;410;p42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411" name="Google Shape;411;p42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12" name="Google Shape;412;p42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413" name="Google Shape;413;p42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14" name="Google Shape;414;p42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415" name="Google Shape;415;p42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6" name="Google Shape;416;p42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7" name="Google Shape;417;p42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418" name="Google Shape;418;p4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9" name="Google Shape;419;p42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0" name="Google Shape;420;p42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21" name="Google Shape;421;p42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22" name="Google Shape;422;p42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23" name="Google Shape;423;p42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24" name="Google Shape;424;p42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42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26" name="Google Shape;426;p42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27" name="Google Shape;427;p42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28" name="Google Shape;428;p42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29" name="Google Shape;429;p42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30" name="Google Shape;430;p42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31" name="Google Shape;431;p42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32" name="Google Shape;432;p42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33" name="Google Shape;433;p42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434" name="Google Shape;434;p4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5" name="Google Shape;435;p4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3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8" name="Google Shape;438;p43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9" name="Google Shape;439;p43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440" name="Google Shape;440;p4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" name="Google Shape;441;p4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2" name="Google Shape;442;p4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3" name="Google Shape;443;p43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43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445" name="Google Shape;445;p43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6" name="Google Shape;446;p43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7" name="Google Shape;447;p43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448" name="Google Shape;448;p43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449" name="Google Shape;449;p43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0" name="Google Shape;450;p43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1" name="Google Shape;451;p43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2" name="Google Shape;452;p43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55" name="Google Shape;455;p4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0" name="Google Shape;460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3" name="Google Shape;463;p4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4" name="Google Shape;464;p4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9" name="Google Shape;469;p4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4" name="Google Shape;474;p5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5" name="Google Shape;475;p5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0" name="Google Shape;480;p5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84" name="Google Shape;484;p5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5" name="Google Shape;485;p5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6" name="Google Shape;486;p5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7" name="Google Shape;487;p5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8" name="Google Shape;488;p5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9" name="Google Shape;489;p5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2" name="Google Shape;492;p5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3" name="Google Shape;493;p5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6" name="Google Shape;496;p5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7" name="Google Shape;497;p5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8" name="Google Shape;498;p5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9" name="Google Shape;499;p5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2" name="Google Shape;502;p5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3" name="Google Shape;503;p5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4" name="Google Shape;504;p5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5" name="Google Shape;505;p5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6" name="Google Shape;506;p5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7" name="Google Shape;507;p5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0" name="Google Shape;510;p5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1" name="Google Shape;511;p5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2" name="Google Shape;512;p5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3" name="Google Shape;513;p5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4" name="Google Shape;514;p5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5" name="Google Shape;515;p5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6" name="Google Shape;516;p5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7" name="Google Shape;517;p5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0" name="Google Shape;520;p6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23" name="Google Shape;523;p6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6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25" name="Google Shape;525;p6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26" name="Google Shape;526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7" name="Google Shape;527;p6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28" name="Google Shape;528;p6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31" name="Google Shape;531;p6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32" name="Google Shape;532;p6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33" name="Google Shape;533;p6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34" name="Google Shape;534;p6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35" name="Google Shape;535;p6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36" name="Google Shape;536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7" name="Google Shape;537;p6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8" name="Google Shape;538;p6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9" name="Google Shape;539;p6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4" name="Google Shape;544;p6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5" name="Google Shape;545;p6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6" name="Google Shape;546;p6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7" name="Google Shape;547;p6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6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6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50" name="Google Shape;550;p6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6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6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50.xml"/><Relationship Id="rId27" Type="http://schemas.openxmlformats.org/officeDocument/2006/relationships/slideLayout" Target="../slideLayouts/slideLayout49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51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53.xml"/><Relationship Id="rId30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33.xml"/><Relationship Id="rId33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35.xml"/><Relationship Id="rId35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37.xml"/><Relationship Id="rId37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39.xml"/><Relationship Id="rId39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3" r:id="rId24"/>
    <p:sldLayoutId id="2147483694" r:id="rId25"/>
    <p:sldLayoutId id="2147483695" r:id="rId26"/>
    <p:sldLayoutId id="2147483696" r:id="rId27"/>
    <p:sldLayoutId id="2147483697" r:id="rId28"/>
    <p:sldLayoutId id="2147483698" r:id="rId29"/>
    <p:sldLayoutId id="2147483699" r:id="rId30"/>
    <p:sldLayoutId id="2147483700" r:id="rId31"/>
    <p:sldLayoutId id="2147483701" r:id="rId32"/>
    <p:sldLayoutId id="2147483702" r:id="rId33"/>
    <p:sldLayoutId id="2147483703" r:id="rId34"/>
    <p:sldLayoutId id="2147483704" r:id="rId35"/>
    <p:sldLayoutId id="2147483705" r:id="rId36"/>
    <p:sldLayoutId id="2147483706" r:id="rId37"/>
    <p:sldLayoutId id="2147483707" r:id="rId38"/>
    <p:sldLayoutId id="2147483708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8" name="Google Shape;558;p6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COVID-19 and Pop Culture Stocks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4" name="Google Shape;564;p6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Urbanist"/>
                <a:ea typeface="Urbanist"/>
                <a:cs typeface="Urbanist"/>
                <a:sym typeface="Urbanist"/>
              </a:rPr>
              <a:t>Lifestyle Edition</a:t>
            </a:r>
            <a:endParaRPr sz="3800"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7"/>
          <p:cNvSpPr txBox="1"/>
          <p:nvPr>
            <p:ph type="title"/>
          </p:nvPr>
        </p:nvSpPr>
        <p:spPr>
          <a:xfrm>
            <a:off x="228600" y="23475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</a:t>
            </a:r>
            <a:endParaRPr/>
          </a:p>
        </p:txBody>
      </p:sp>
      <p:sp>
        <p:nvSpPr>
          <p:cNvPr id="570" name="Google Shape;570;p67"/>
          <p:cNvSpPr txBox="1"/>
          <p:nvPr/>
        </p:nvSpPr>
        <p:spPr>
          <a:xfrm>
            <a:off x="471900" y="11776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1" name="Google Shape;571;p67"/>
          <p:cNvSpPr txBox="1"/>
          <p:nvPr/>
        </p:nvSpPr>
        <p:spPr>
          <a:xfrm>
            <a:off x="900550" y="1853050"/>
            <a:ext cx="7102800" cy="16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How 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exactly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did COV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ID-19 affect lifestyle companies, and what can we learn for a potential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period of economic downturn?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8"/>
          <p:cNvSpPr txBox="1"/>
          <p:nvPr>
            <p:ph type="title"/>
          </p:nvPr>
        </p:nvSpPr>
        <p:spPr>
          <a:xfrm>
            <a:off x="228600" y="23475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</a:t>
            </a:r>
            <a:endParaRPr/>
          </a:p>
        </p:txBody>
      </p:sp>
      <p:sp>
        <p:nvSpPr>
          <p:cNvPr id="577" name="Google Shape;577;p68"/>
          <p:cNvSpPr txBox="1"/>
          <p:nvPr/>
        </p:nvSpPr>
        <p:spPr>
          <a:xfrm>
            <a:off x="446225" y="11776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Use yLibrary to take a look at current and past stock returns of 8 lifestyle companies (Nike, Lululemon, Peloton, Sprouts Farmers Market, Home Deopt, Starbucks)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Web scrape websites to find yearly revenue and yearly rate of change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Take a look at numbers pre, during, and post COVID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Pull insights and advice Cooledtured on plans going forward. 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9"/>
          <p:cNvSpPr txBox="1"/>
          <p:nvPr>
            <p:ph type="title"/>
          </p:nvPr>
        </p:nvSpPr>
        <p:spPr>
          <a:xfrm>
            <a:off x="228600" y="23475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</a:t>
            </a:r>
            <a:endParaRPr/>
          </a:p>
        </p:txBody>
      </p:sp>
      <p:sp>
        <p:nvSpPr>
          <p:cNvPr id="583" name="Google Shape;583;p69"/>
          <p:cNvSpPr txBox="1"/>
          <p:nvPr/>
        </p:nvSpPr>
        <p:spPr>
          <a:xfrm>
            <a:off x="446225" y="11776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Tech stack will be pretty simple. I will make use of: 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AutoNum type="arabicPeriod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Python (Web scraping APIs, Visualization, and other Libraries)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AutoNum type="arabicPeriod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Spreadsheets(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Going to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have a lot of structured data on my hands)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AutoNum type="arabicPeriod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Slides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Making a presentation about my results)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0"/>
          <p:cNvSpPr txBox="1"/>
          <p:nvPr>
            <p:ph type="title"/>
          </p:nvPr>
        </p:nvSpPr>
        <p:spPr>
          <a:xfrm>
            <a:off x="228600" y="23475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Terms</a:t>
            </a:r>
            <a:endParaRPr/>
          </a:p>
        </p:txBody>
      </p:sp>
      <p:sp>
        <p:nvSpPr>
          <p:cNvPr id="589" name="Google Shape;589;p70"/>
          <p:cNvSpPr txBox="1"/>
          <p:nvPr/>
        </p:nvSpPr>
        <p:spPr>
          <a:xfrm>
            <a:off x="424950" y="894500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Before we get started, there are some terms I have to define: 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AutoNum type="arabicPeriod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NASDAQ: Tech-heavy stock </a:t>
            </a: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exchange</a:t>
            </a: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for publicly traded </a:t>
            </a: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companies</a:t>
            </a: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AutoNum type="arabicPeriod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Stock Price: Total value of a company’s shares.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AutoNum type="arabicPeriod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Percent Change: Relative increase/ decrease in a </a:t>
            </a: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company</a:t>
            </a: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’s revenue over the last year.  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AutoNum type="arabicPeriod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Revenue:  Total company income 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AutoNum type="arabicPeriod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Y-Finance:   Python API for stock market data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AutoNum type="arabicPeriod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Producers:  Company’s who create and finance Content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AutoNum type="arabicPeriod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Distributors: </a:t>
            </a: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Company</a:t>
            </a: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’s who sell, retail, and distribute products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7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3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Why These Companies?</a:t>
            </a:r>
            <a:endParaRPr sz="3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5" name="Google Shape;595;p71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195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Urbanist"/>
              <a:buChar char="•"/>
            </a:pPr>
            <a:r>
              <a:rPr lang="en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Chosen for being lifestyle-focused, like Cooledtured</a:t>
            </a:r>
            <a:endParaRPr sz="2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195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Urbanist"/>
              <a:buChar char="•"/>
            </a:pPr>
            <a:r>
              <a:rPr lang="en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Easier to learn from their strategies &amp; apply them</a:t>
            </a:r>
            <a:endParaRPr sz="2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195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Urbanist"/>
              <a:buChar char="•"/>
            </a:pPr>
            <a:r>
              <a:rPr lang="en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 good chunk of historical, well-structured data to analyze and pull insights from. </a:t>
            </a:r>
            <a:endParaRPr sz="2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3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Companies That Thrived</a:t>
            </a:r>
            <a:endParaRPr sz="3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1" name="Google Shape;601;p72"/>
          <p:cNvSpPr txBox="1"/>
          <p:nvPr>
            <p:ph idx="1" type="body"/>
          </p:nvPr>
        </p:nvSpPr>
        <p:spPr>
          <a:xfrm>
            <a:off x="457200" y="1200150"/>
            <a:ext cx="8229600" cy="3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73570" lvl="0" marL="342900" rtl="0" algn="l">
              <a:lnSpc>
                <a:spcPct val="14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283"/>
              <a:buFont typeface="Urbanist"/>
              <a:buChar char="•"/>
            </a:pPr>
            <a:r>
              <a:rPr lang="en" sz="2083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Nike &amp; Lululemon</a:t>
            </a:r>
            <a:r>
              <a:rPr lang="en" sz="2083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" sz="2083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Demand for athletic apparel during lockdowns</a:t>
            </a:r>
            <a:endParaRPr sz="2083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5894" lvl="0" marL="342900" rtl="0" algn="l">
              <a:lnSpc>
                <a:spcPct val="14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460"/>
              <a:buFont typeface="Urbanist"/>
              <a:buChar char="•"/>
            </a:pPr>
            <a:r>
              <a:rPr lang="en" sz="2083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Peloton</a:t>
            </a:r>
            <a:r>
              <a:rPr lang="en" sz="2083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" sz="2083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Home fitness boom</a:t>
            </a:r>
            <a:endParaRPr sz="2083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5894" lvl="0" marL="342900" rtl="0" algn="l">
              <a:lnSpc>
                <a:spcPct val="14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460"/>
              <a:buFont typeface="Urbanist"/>
              <a:buChar char="•"/>
            </a:pPr>
            <a:r>
              <a:rPr lang="en" sz="2083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Sprouts Farmers Market</a:t>
            </a:r>
            <a:r>
              <a:rPr lang="en" sz="2083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" sz="2083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Health &amp; wellness focus, more home cooking</a:t>
            </a:r>
            <a:endParaRPr sz="2083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5894" lvl="0" marL="342900" rtl="0" algn="l">
              <a:lnSpc>
                <a:spcPct val="14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460"/>
              <a:buFont typeface="Urbanist"/>
              <a:buChar char="•"/>
            </a:pPr>
            <a:r>
              <a:rPr lang="en" sz="2083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Home Depot</a:t>
            </a:r>
            <a:r>
              <a:rPr lang="en" sz="2083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" sz="2083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DIY/home improvement surge</a:t>
            </a:r>
            <a:endParaRPr sz="2083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5894" lvl="0" marL="342900" rtl="0" algn="l">
              <a:lnSpc>
                <a:spcPct val="14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460"/>
              <a:buFont typeface="Urbanist"/>
              <a:buChar char="•"/>
            </a:pPr>
            <a:r>
              <a:rPr lang="en" sz="2083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Starbucks</a:t>
            </a:r>
            <a:r>
              <a:rPr lang="en" sz="2083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" sz="2083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Drive-thru &amp; take-out kept revenue flowing</a:t>
            </a:r>
            <a:endParaRPr sz="2083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3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Success Factors</a:t>
            </a:r>
            <a:endParaRPr sz="3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7" name="Google Shape;607;p7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Urbanist"/>
              <a:buChar char="•"/>
            </a:pPr>
            <a:r>
              <a:rPr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Adaptability means survival</a:t>
            </a:r>
            <a:endParaRPr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Urbanist"/>
              <a:buChar char="•"/>
            </a:pPr>
            <a:r>
              <a:rPr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Online/distribution-based models thrived like Funko (early success), Netflix</a:t>
            </a:r>
            <a:endParaRPr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Urbanist"/>
              <a:buChar char="•"/>
            </a:pPr>
            <a:r>
              <a:rPr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We need </a:t>
            </a:r>
            <a:r>
              <a:rPr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members</a:t>
            </a:r>
            <a:r>
              <a:rPr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with good instinct</a:t>
            </a:r>
            <a:r>
              <a:rPr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Jason’s intuition for trends)</a:t>
            </a:r>
            <a:endParaRPr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3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Lessons for Cooledtured</a:t>
            </a:r>
            <a:endParaRPr sz="3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3" name="Google Shape;613;p7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342900" rtl="0" algn="l">
              <a:lnSpc>
                <a:spcPct val="2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Urbanist"/>
              <a:buChar char="•"/>
            </a:pPr>
            <a:r>
              <a:rPr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Best strategy: Find a cultural wave and ride it</a:t>
            </a:r>
            <a:endParaRPr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342900" rtl="0" algn="l">
              <a:lnSpc>
                <a:spcPct val="2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Urbanist"/>
              <a:buChar char="•"/>
            </a:pPr>
            <a:r>
              <a:rPr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 digital-first model </a:t>
            </a:r>
            <a:r>
              <a:rPr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makes you </a:t>
            </a:r>
            <a:r>
              <a:rPr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recession resistant</a:t>
            </a:r>
            <a:endParaRPr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342900" rtl="0" algn="l">
              <a:lnSpc>
                <a:spcPct val="2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Urbanist"/>
              <a:buChar char="•"/>
            </a:pPr>
            <a:r>
              <a:rPr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Entertainment remains a top escape during crises</a:t>
            </a:r>
            <a:endParaRPr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75"/>
          <p:cNvSpPr txBox="1"/>
          <p:nvPr>
            <p:ph type="title"/>
          </p:nvPr>
        </p:nvSpPr>
        <p:spPr>
          <a:xfrm>
            <a:off x="457200" y="183712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3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Crunchyroll vs Netflix</a:t>
            </a:r>
            <a:endParaRPr sz="3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9" name="Google Shape;619;p75"/>
          <p:cNvSpPr txBox="1"/>
          <p:nvPr>
            <p:ph idx="1" type="body"/>
          </p:nvPr>
        </p:nvSpPr>
        <p:spPr>
          <a:xfrm>
            <a:off x="457200" y="1177884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925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Urbanist"/>
              <a:buChar char="•"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Crunchyroll: loyal anime community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925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Urbanist"/>
              <a:buChar char="•"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Netflix: carving into anime market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925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Urbanist"/>
              <a:buChar char="•"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Both succeed if they maintain their tribes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925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Urbanist"/>
              <a:buChar char="•"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Lesson: Cooledtured must keep and grow its tribe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3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What Cooledtured Should Do</a:t>
            </a:r>
            <a:endParaRPr sz="3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5" name="Google Shape;625;p7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Char char="•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Build a Community: Social media campaigns, interactive, visible content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Char char="•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Double Down on Digitalization: Digital storefronts, diversify suppliers, increase international reach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Char char="•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Ride Cultural Waves: Timed collections, track reboots &amp; trends, use content team for relevance</a:t>
            </a: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This is where Jason and </a:t>
            </a: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especially</a:t>
            </a: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Data Analysts could help) 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3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Why Lifestyle Brands Win</a:t>
            </a:r>
            <a:endParaRPr sz="3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1" name="Google Shape;631;p77"/>
          <p:cNvSpPr txBox="1"/>
          <p:nvPr>
            <p:ph idx="1" type="body"/>
          </p:nvPr>
        </p:nvSpPr>
        <p:spPr>
          <a:xfrm>
            <a:off x="382975" y="822563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03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195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Urbanist"/>
              <a:buChar char="•"/>
            </a:pP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Sell identity &amp; community, not just products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195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Urbanist"/>
              <a:buChar char="•"/>
            </a:pP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“Lipstick effect”</a:t>
            </a: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people buy small comforts in hard times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195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Urbanist"/>
              <a:buChar char="•"/>
            </a:pP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Digital-friendly models thrive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195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Urbanist"/>
              <a:buChar char="•"/>
            </a:pP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Pop culture = emotional relief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7" name="Google Shape;637;p78"/>
          <p:cNvSpPr txBox="1"/>
          <p:nvPr>
            <p:ph idx="1" type="body"/>
          </p:nvPr>
        </p:nvSpPr>
        <p:spPr>
          <a:xfrm>
            <a:off x="457200" y="1200150"/>
            <a:ext cx="8229600" cy="3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36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38" name="Google Shape;63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67197"/>
            <a:ext cx="9144001" cy="3009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7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3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Why Some Fail</a:t>
            </a:r>
            <a:endParaRPr sz="3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4" name="Google Shape;644;p79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Urbanist"/>
              <a:buChar char="•"/>
            </a:pPr>
            <a:r>
              <a:rPr lang="en" sz="2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Peloton</a:t>
            </a:r>
            <a:r>
              <a:rPr lang="en" sz="2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" sz="2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assumed lockdown demand would last</a:t>
            </a:r>
            <a:endParaRPr sz="2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Urbanist"/>
              <a:buChar char="•"/>
            </a:pPr>
            <a:r>
              <a:rPr lang="en" sz="2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Funko</a:t>
            </a:r>
            <a:r>
              <a:rPr lang="en" sz="2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" sz="2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declining interest, dropping revenue</a:t>
            </a:r>
            <a:endParaRPr sz="2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Urbanist"/>
              <a:buChar char="•"/>
            </a:pPr>
            <a:r>
              <a:rPr lang="en" sz="2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Mistake: poor adaptation &amp; lack of foresight</a:t>
            </a:r>
            <a:endParaRPr sz="2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8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0" name="Google Shape;650;p80"/>
          <p:cNvSpPr txBox="1"/>
          <p:nvPr>
            <p:ph idx="1" type="body"/>
          </p:nvPr>
        </p:nvSpPr>
        <p:spPr>
          <a:xfrm>
            <a:off x="457200" y="1200150"/>
            <a:ext cx="8229600" cy="3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36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51" name="Google Shape;65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500" y="1318625"/>
            <a:ext cx="9000500" cy="291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8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3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Takeaways		</a:t>
            </a:r>
            <a:endParaRPr sz="3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7" name="Google Shape;657;p81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0850" lvl="0" marL="4572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Urbanist"/>
              <a:buChar char="•"/>
            </a:pPr>
            <a:r>
              <a:rPr lang="en" sz="216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Cooledtured must</a:t>
            </a:r>
            <a:r>
              <a:rPr lang="en" sz="216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b</a:t>
            </a:r>
            <a:r>
              <a:rPr lang="en" sz="216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uild community, </a:t>
            </a:r>
            <a:r>
              <a:rPr lang="en" sz="216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</a:t>
            </a:r>
            <a:r>
              <a:rPr lang="en" sz="216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tay digital &amp; adaptable, </a:t>
            </a:r>
            <a:r>
              <a:rPr lang="en" sz="216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and r</a:t>
            </a:r>
            <a:r>
              <a:rPr lang="en" sz="216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ide cultural waves</a:t>
            </a:r>
            <a:endParaRPr sz="216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450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Urbanist"/>
              <a:buChar char="•"/>
            </a:pPr>
            <a:r>
              <a:rPr lang="en" sz="216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Entertainment </a:t>
            </a:r>
            <a:r>
              <a:rPr lang="en" sz="216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is </a:t>
            </a:r>
            <a:r>
              <a:rPr lang="en" sz="216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always a safe bet in downturns</a:t>
            </a:r>
            <a:endParaRPr sz="216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450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Urbanist"/>
              <a:buChar char="•"/>
            </a:pPr>
            <a:r>
              <a:rPr lang="en" sz="216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Lifestyle + pop culture = recession resistance</a:t>
            </a:r>
            <a:endParaRPr sz="216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